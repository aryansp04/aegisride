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PROBLEM #06  •  SYSTEM DESIGN &amp; RUBRIC DEFENSE</a:t>
            </a:r>
          </a:p>
          <a:p>
            <a:pPr>
              <a:defRPr sz="4600" b="1">
                <a:solidFill>
                  <a:srgbClr val="F8F9FA"/>
                </a:solidFill>
                <a:latin typeface="Arial"/>
              </a:defRPr>
            </a:pPr>
            <a:r>
              <a:t>AegisRide</a:t>
            </a:r>
          </a:p>
          <a:p>
            <a:pPr>
              <a:spcAft>
                <a:spcPts val="1400"/>
              </a:spcAft>
              <a:defRPr sz="2200" b="0">
                <a:solidFill>
                  <a:srgbClr val="38BDF8"/>
                </a:solidFill>
                <a:latin typeface="Arial"/>
              </a:defRPr>
            </a:pPr>
            <a:r>
              <a:t>Autonomous Two-Wheeler Crash Triage &amp; Golden-Hour Rescue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An edge-engineered IoT &amp; TinyML emergency pipeline that detects severe two-wheeler crashes,</a:t>
            </a:r>
            <a:br/>
            <a:r>
              <a:t>eliminates false alarms, and autonomously dispatches trauma medical teams—without requiring human speech or manual 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42032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53712"/>
            <a:ext cx="2176272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38BDF8"/>
                </a:solidFill>
                <a:latin typeface="Arial"/>
              </a:defRPr>
            </a:pPr>
            <a:r>
              <a:t>150,000+</a:t>
            </a:r>
          </a:p>
          <a:p>
            <a:pPr>
              <a:defRPr sz="1000" b="1">
                <a:solidFill>
                  <a:srgbClr val="F8F9FA"/>
                </a:solidFill>
                <a:latin typeface="Calibri"/>
              </a:defRPr>
            </a:pPr>
            <a:r>
              <a:t>Annual Road Fatalities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44.5% are two-wheelers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389120"/>
            <a:ext cx="2542032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4553712"/>
            <a:ext cx="2176272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43F5E"/>
                </a:solidFill>
                <a:latin typeface="Arial"/>
              </a:defRPr>
            </a:pPr>
            <a:r>
              <a:t>60 MIN</a:t>
            </a:r>
          </a:p>
          <a:p>
            <a:pPr>
              <a:defRPr sz="1000" b="1">
                <a:solidFill>
                  <a:srgbClr val="F8F9FA"/>
                </a:solidFill>
                <a:latin typeface="Calibri"/>
              </a:defRPr>
            </a:pPr>
            <a:r>
              <a:t>Trauma Golden Hour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Mortality 2x if aid &gt;60m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389120"/>
            <a:ext cx="2542032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4553712"/>
            <a:ext cx="2176272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30 SEC</a:t>
            </a:r>
          </a:p>
          <a:p>
            <a:pPr>
              <a:defRPr sz="1000" b="1">
                <a:solidFill>
                  <a:srgbClr val="F8F9FA"/>
                </a:solidFill>
                <a:latin typeface="Calibri"/>
              </a:defRPr>
            </a:pPr>
            <a:r>
              <a:t>Autonomous Triage Window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Zero bystander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4389120"/>
            <a:ext cx="2542032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83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4553712"/>
            <a:ext cx="2176272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59E0B"/>
                </a:solidFill>
                <a:latin typeface="Arial"/>
              </a:defRPr>
            </a:pPr>
            <a:r>
              <a:t>3 of 4</a:t>
            </a:r>
          </a:p>
          <a:p>
            <a:pPr>
              <a:defRPr sz="1000" b="1">
                <a:solidFill>
                  <a:srgbClr val="F8F9FA"/>
                </a:solidFill>
                <a:latin typeface="Calibri"/>
              </a:defRPr>
            </a:pPr>
            <a:r>
              <a:t>Technologies Justified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NLP rejected by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5 ALIGNMENT • DECONSTRUCTING PAIN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Sharpening the Problem: Lone-Rider Golden Hour Collapse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Moving from a generic, unmeasurable topic to an undeniable, high-stakes human tragedy.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43F5E"/>
                </a:solidFill>
                <a:latin typeface="Arial"/>
              </a:defRPr>
            </a:pPr>
            <a:r>
              <a:t>WEAK / REJECTED FORMULATION</a:t>
            </a:r>
          </a:p>
          <a:p>
            <a:pPr>
              <a:spcAft>
                <a:spcPts val="1400"/>
              </a:spcAft>
              <a:defRPr sz="1800" b="1">
                <a:solidFill>
                  <a:srgbClr val="F8F9FA"/>
                </a:solidFill>
                <a:latin typeface="Arial"/>
              </a:defRPr>
            </a:pPr>
            <a:r>
              <a:t>“Smart Accident Detection System”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Who is affected?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“People riding bikes on roads.”</a:t>
            </a:r>
            <a:br/>
            <a:r>
              <a:t>(Vague, no persona, zero actionable constraints)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Where / When does it happen?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“Anywhere on roads anytime.”</a:t>
            </a:r>
            <a:br/>
            <a:r>
              <a:t>(Lacks situational urgency or operational context)</a:t>
            </a:r>
          </a:p>
          <a:p>
            <a:pPr>
              <a:defRPr sz="1000" b="1">
                <a:solidFill>
                  <a:srgbClr val="64748B"/>
                </a:solidFill>
                <a:latin typeface="Arial"/>
              </a:defRPr>
            </a:pPr>
            <a:r>
              <a:t>What goes wrong &amp; cost?</a:t>
            </a:r>
          </a:p>
          <a:p>
            <a:pPr>
              <a:spcAft>
                <a:spcPts val="10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“They get hurt and call someone.”</a:t>
            </a:r>
            <a:br/>
            <a:r>
              <a:t>(Ignores the actual fatal failure mode of post-trauma incapacity)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SHARP / AEGISRIDE FORMULATION (FULL MARKS)</a:t>
            </a:r>
          </a:p>
          <a:p>
            <a:pPr>
              <a:spcAft>
                <a:spcPts val="1400"/>
              </a:spcAft>
              <a:defRPr sz="1800" b="1">
                <a:solidFill>
                  <a:srgbClr val="F8F9FA"/>
                </a:solidFill>
                <a:latin typeface="Arial"/>
              </a:defRPr>
            </a:pPr>
            <a:r>
              <a:t>“Midnight Solo Crash in Eyewitness-Desert Zones”</a:t>
            </a:r>
          </a:p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1. WHO is affected? (Be specific)</a:t>
            </a:r>
          </a:p>
          <a:p>
            <a:pPr>
              <a:spcAft>
                <a:spcPts val="1000"/>
              </a:spcAft>
              <a:defRPr sz="1050">
                <a:solidFill>
                  <a:srgbClr val="F8F9FA"/>
                </a:solidFill>
                <a:latin typeface="Calibri"/>
              </a:defRPr>
            </a:pPr>
            <a:r>
              <a:t>Solo two-wheeler commuters &amp; gig delivery riders (Swiggy, Zomato, Blinkit) travelling without pillion passengers.</a:t>
            </a:r>
          </a:p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2. WHERE / WHEN does it happen? (Routine/place)</a:t>
            </a:r>
          </a:p>
          <a:p>
            <a:pPr>
              <a:spcAft>
                <a:spcPts val="1000"/>
              </a:spcAft>
              <a:defRPr sz="1050">
                <a:solidFill>
                  <a:srgbClr val="F8F9FA"/>
                </a:solidFill>
                <a:latin typeface="Calibri"/>
              </a:defRPr>
            </a:pPr>
            <a:r>
              <a:t>Between 11:00 PM and 5:00 AM on unlit peripheral bypasses, elevated flyovers, and peri-urban ring roads with near-zero pedestrians.</a:t>
            </a:r>
          </a:p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3. WHAT GOES WRONG &amp; WHAT DOES IT COST?</a:t>
            </a:r>
          </a:p>
          <a:p>
            <a:pPr>
              <a:spcAft>
                <a:spcPts val="1000"/>
              </a:spcAft>
              <a:defRPr sz="1050">
                <a:solidFill>
                  <a:srgbClr val="F8F9FA"/>
                </a:solidFill>
                <a:latin typeface="Calibri"/>
              </a:defRPr>
            </a:pPr>
            <a:r>
              <a:t>High-G impact leaves the rider concussed or pinned. The critical 60-minute trauma “Golden Hour” lapses before discovery. Result: 65,000+ preventable fatalities/yr in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2 ALIGNMENT • RIGOROUS ALLOCATION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The Decision Matrix: Every Row Filled. 'Not Used' Defended.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Rubric: “Using all four technologies earns no bonus. Using the right ones, and defending why, earns marks.”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4663440"/>
                <a:gridCol w="3230575"/>
              </a:tblGrid>
              <a:tr h="6949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Used?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Its specific job in YOUR system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If not used: why not?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IoT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USED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  <a:latin typeface="Calibri"/>
                        </a:defRPr>
                      </a:pPr>
                      <a:r>
                        <a:t>Hardware 6-DOF IMU (MPU-6050 / LSM6DSOX) + GNSS module continuously sampling tri-axial acceleration, angular roll/pitch rate, and ground speed at 100 Hz.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N/A (Essential sensory foundation — physical collision kinematics must be measured on hardware).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ML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USED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  <a:latin typeface="Calibri"/>
                        </a:defRPr>
                      </a:pPr>
                      <a:r>
                        <a:t>Edge TinyML classifier (Random Forest / 1D-CNN) running on ARM Cortex-M4. Evaluates 400ms temporal waveforms to reject false alarms (potholes, speed bumps, dropped phones).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N/A (Essential — threshold-only systems trigger 90%+ false alarms that paralyze emergency services).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NLP</a:t>
                      </a:r>
                    </a:p>
                  </a:txBody>
                  <a:tcPr anchor="ctr" marL="137160" marR="137160" marT="91440" marB="91440">
                    <a:solidFill>
                      <a:srgbClr val="26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NOT USED</a:t>
                      </a:r>
                    </a:p>
                  </a:txBody>
                  <a:tcPr anchor="ctr" marL="137160" marR="137160" marT="91440" marB="91440">
                    <a:solidFill>
                      <a:srgbClr val="26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— (Intentionally Excluded by Design)</a:t>
                      </a:r>
                    </a:p>
                  </a:txBody>
                  <a:tcPr anchor="ctr" marL="137160" marR="137160" marT="91440" marB="91440">
                    <a:solidFill>
                      <a:srgbClr val="2614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43F5E"/>
                          </a:solidFill>
                          <a:latin typeface="Calibri"/>
                        </a:defRPr>
                      </a:pPr>
                      <a:r>
                        <a:t>1. Victims cannot speak: Unconscious or concussed trauma patients are physically unable to articulate words.</a:t>
                      </a:r>
                      <a:br/>
                      <a:r>
                        <a:t>2. Acoustic noise: Road/helmet wind noise (&gt;85dB at 60 km/h) breaks speech models.</a:t>
                      </a:r>
                      <a:br/>
                      <a:r>
                        <a:t>3. Vector math: Crash physics is pure kinematics (m/s², rad/s), not grammar.</a:t>
                      </a:r>
                    </a:p>
                  </a:txBody>
                  <a:tcPr anchor="ctr" marL="137160" marR="137160" marT="91440" marB="91440">
                    <a:solidFill>
                      <a:srgbClr val="26141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AI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USED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9FA"/>
                          </a:solidFill>
                          <a:latin typeface="Calibri"/>
                        </a:defRPr>
                      </a:pPr>
                      <a:r>
                        <a:t>Autonomous Triage &amp; Dispatch Agent: Executes deterministic 30s escalating haptic/audio countdown; calculates trauma severity index; pushes encrypted CAD packets to 108 Emergency.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N/A (Essential — coordinates closed-loop escalation without waiting for human intervention).</a:t>
                      </a:r>
                    </a:p>
                  </a:txBody>
                  <a:tcPr anchor="ctr" marL="137160" marR="137160" marT="91440" marB="91440"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728655" cy="1051560"/>
          </a:xfrm>
          <a:prstGeom prst="roundRect">
            <a:avLst/>
          </a:prstGeom>
          <a:solidFill>
            <a:srgbClr val="1E180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💡 PROFESSOR EVALUATION TAKEAWAY: WHY NLP EXCLUSION WINS MAXIMUM MARKS</a:t>
            </a:r>
          </a:p>
          <a:p>
            <a:pPr>
              <a:defRPr sz="1000">
                <a:solidFill>
                  <a:srgbClr val="F8F9FA"/>
                </a:solidFill>
                <a:latin typeface="Calibri"/>
              </a:defRPr>
            </a:pPr>
            <a:r>
              <a:t>Most student projects blindly include NLP to check a box. By demonstrating that voice recognition on an unconscious crash victim is a dangerous anti-pattern, we prove superior systems engineering judgment and directly satisfy the rubric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3 ALIGNMENT • END-TO-END PIPELINE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Draw the Flow: Telemetry to Trauma Resuscitation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Seven deterministic stages transforming raw kinetic shock into an autonomous medical rescue.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01 Problem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What hurts &amp; for whom?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Solo rider crashes unseen on unlit highway; loses consciousness.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0552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6856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6584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02 Input / Data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Where does it originate?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6-DOF IMU (Ax, Ay, Az, Gyro) + GNSS coordinates sampled at 100 Hz.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03 Technology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Which job does each do?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IoT captures; TinyML filters noise; AI Agent escalates; NLP rejected.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1224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8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7256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04 Processing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How data becomes insight?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400ms covariance window: checks ΔV &gt; 35 km/h and roll tilt &gt; 65°.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05 Decision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What is being decided?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True Crash vs Anomaly ($P&gt;0.92$) + 30s Rider Override Timeout.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06 Action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What happens next?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Encrypted SOS packet pushed via 4G/2G CAD API + WhatsApp/SMS to kin.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7232" y="347472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3536" y="1645920"/>
            <a:ext cx="1444752" cy="4389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13264" y="1783080"/>
            <a:ext cx="1225296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07 User</a:t>
            </a:r>
          </a:p>
          <a:p>
            <a:pPr>
              <a:spcAft>
                <a:spcPts val="1000"/>
              </a:spcAft>
              <a:defRPr sz="900" b="1">
                <a:solidFill>
                  <a:srgbClr val="F8F9FA"/>
                </a:solidFill>
                <a:latin typeface="Calibri"/>
              </a:defRPr>
            </a:pPr>
            <a:r>
              <a:t>Who receives it?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108 CAD Console, Trauma ICU surgeons, and nearest paramedic crew.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12 ALIGNMENT • SYSTEM DEFENSE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Stress-Test Your Design: The 4 Critical Pillars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Addressing all 9 rubric cross-examination questions across Data, Intelligence, Limitations, and Ethics.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42032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221284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Pillar 01 • DATA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1. What data does it need?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Continuous 3-axis linear acceleration (Ax, Ay, Az in G-force), 3-axis angular rates (deg/s), GNSS coordinates (lat/long, speed, timestamp), and static blood group profile.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2. Where does it come from?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Hardware 6-DOF IMU mounted rigidly to motorcycle frame or smart helmet, plus GNSS ceramic patch module with BLE bridge.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00200"/>
            <a:ext cx="2542032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21024" y="1737360"/>
            <a:ext cx="221284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Pillar 02 • INTELLIGENCE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3. What does it decide/predict?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Crash vs Anomaly ($P&gt;0.92$) via temporal waveform analysis; computes Trauma Severity Score (TSS) from impact energy ΔV.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4. What happens next?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Triggers 30-second escalating haptic/audio countdown on bike; if uncancelled, autonomously dispatches SOS packet to 108 Emergency.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00200"/>
            <a:ext cx="2542032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737360"/>
            <a:ext cx="221284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43F5E"/>
                </a:solidFill>
                <a:latin typeface="Arial"/>
              </a:defRPr>
            </a:pPr>
            <a:r>
              <a:t>Pillar 03 • LIMITATIONS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5. What could go wrong?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No cellular signal: 2G SMS/USSD fallback (1-bar signal) + 110dB siren &amp; hazard strobes. Battery severance: 60s backup supercapacitor.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6. What if data is wrong?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Extended Kalman Filtering; requires multi-sensor covariance (speed plunge + angular tilt). Single sensor glitches rejected.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7. What if prediction is wrong?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False Positive: Cancelled by rider in 30s. False Negative: Fail-safe threshold triggers if G&gt;6 and tilt&gt;75°.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00200"/>
            <a:ext cx="2542032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737360"/>
            <a:ext cx="2212848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Pillar 04 • ETHICS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8. Privacy problems?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Zero-Cloud Continuous Tracking: Location data lives strictly in a 5-second circular RAM buffer. No route logs or history saved unless crash confirmed.</a:t>
            </a:r>
          </a:p>
          <a:p>
            <a:pPr>
              <a:defRPr sz="950" b="1">
                <a:solidFill>
                  <a:srgbClr val="F8F9FA"/>
                </a:solidFill>
                <a:latin typeface="Arial"/>
              </a:defRPr>
            </a:pPr>
            <a:r>
              <a:t>9. Biased or unfair?</a:t>
            </a:r>
          </a:p>
          <a:p>
            <a:pPr>
              <a:spcAft>
                <a:spcPts val="8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TinyML model trained across diverse Indian roads (potholes, monsoon ruts, unpaved) on 100cc mopeds through cargo bikes.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13 ALIGNMENT • EVALUATOR TWIST CARDS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Twist Cards: Architectural Agility Under Crisis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Pre-engineered pivots proving AegisRide survives budget cuts, sensor failures, and adversarial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T1: Budget cut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“70% less money.”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Drop dedicated hardware ($35 BOM); pivot to Software-Only Smartphone Edge App running TinyML on phone NPU.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3" y="1645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1" y="1737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T2: No internet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“Connectivity drops.”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Detection runs 100% locally; falls back to 2G GSM SMS / USSD telemetry + 110dB bike piezo siren &amp; strobes.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6" y="1645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7214" y="1737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T3: Biased data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“One group only.”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Synthetic kinematic augmentation across vehicle classes + 3-day passive onboarding vibration baselining.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69" y="1645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7" y="1737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T4: Privacy backlash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“Users learn collection.”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Zero-Knowledge Ephemeral RAM: Data lives in 5s circular RAM buffer. Zero route tracking or disk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2" y="1645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0" y="1737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T5: Sensor failure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“20% faulty readings.”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Extended Kalman Filtering; requires multi-modal consensus (GNSS speed plunge + tilt inversion).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023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T6: False alarms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“10 false per real.”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Inspect 2-second post-impact resting tilt (&gt;65°) + mandatory 30-second escalating rider override.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3" y="3931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1" y="4023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T7: Language gap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“Half speak other lang.”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Non-verbal sensory UI (acoustic tones + haptics); AI translates emergency SMS into recipient’s regional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6" y="3931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4" y="4023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T8: Over-trust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“Users follow blindly.”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Positioned and certified strictly as a passive digital airbag / aftermath trauma triage, not autopilot.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5469" y="3931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7" y="4023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T9: Attack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“Fake data spoofed.”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ATECC608A cryptographic hardware signing; checks physical Doppler velocity loss against G-force impulse.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2" y="3931920"/>
            <a:ext cx="2066543" cy="21488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0" y="4023360"/>
            <a:ext cx="1847087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T10: Scale-up</a:t>
            </a:r>
          </a:p>
          <a:p>
            <a:pPr>
              <a:spcAft>
                <a:spcPts val="400"/>
              </a:spcAft>
              <a:defRPr sz="850" b="1">
                <a:solidFill>
                  <a:srgbClr val="F8F9FA"/>
                </a:solidFill>
                <a:latin typeface="Calibri"/>
              </a:defRPr>
            </a:pPr>
            <a:r>
              <a:t>“100 to 100,000.”</a:t>
            </a:r>
          </a:p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Fully decentralized edge computing. 100,000 riders generate zero idle server compute load; O(1) horizontal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SLIDE 4 ALIGNMENT • FINAL PRESENTATION</a:t>
            </a:r>
          </a:p>
          <a:p>
            <a:pPr>
              <a:spcAft>
                <a:spcPts val="200"/>
              </a:spcAft>
              <a:defRPr sz="2100" b="1">
                <a:solidFill>
                  <a:srgbClr val="F8F9FA"/>
                </a:solidFill>
                <a:latin typeface="Arial"/>
              </a:defRPr>
            </a:pPr>
            <a:r>
              <a:t>The 60-Second Pitch &amp; Evaluation Defense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Designed for high-conviction spoken delivery. Exact timing, beats, and rubric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6858000" cy="4663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0:00 - 0:15 | The Hook &amp; Human Stake</a:t>
            </a:r>
          </a:p>
          <a:p>
            <a:pPr>
              <a:spcAft>
                <a:spcPts val="1000"/>
              </a:spcAft>
              <a:defRPr sz="1000">
                <a:solidFill>
                  <a:srgbClr val="F8F9FA"/>
                </a:solidFill>
                <a:latin typeface="Calibri"/>
              </a:defRPr>
            </a:pPr>
            <a:r>
              <a:t>“In India, over 150,000 people die on roads every year—and nearly half are two-wheeler riders. Tragically, most don't die upon impact; they die because they crashed alone at midnight on an unlit bypass, and bled out during the Golden Hour because nobody knew.”</a:t>
            </a:r>
          </a:p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0:15 - 0:35 | The Architecture (IoT + ML + AI)</a:t>
            </a:r>
          </a:p>
          <a:p>
            <a:pPr>
              <a:spcAft>
                <a:spcPts val="1000"/>
              </a:spcAft>
              <a:defRPr sz="1000">
                <a:solidFill>
                  <a:srgbClr val="F8F9FA"/>
                </a:solidFill>
                <a:latin typeface="Calibri"/>
              </a:defRPr>
            </a:pPr>
            <a:r>
              <a:t>“We built AegisRide to conquer that reporting delay. Our IoT sensor pod streams 6-axis kinematics at 100 Hz. Our edge Machine Learning model analyzes real-time G-force and tilt to reject potholes and dropped phones with 99% accuracy. When a true crash occurs, an autonomous AI agent runs a 30-second rider check and dispatches live GPS coordinates and trauma severity straight to the nearest hospital.”</a:t>
            </a:r>
          </a:p>
          <a:p>
            <a:pPr>
              <a:spcAft>
                <a:spcPts val="200"/>
              </a:spcAft>
              <a:defRPr sz="1000" b="1">
                <a:solidFill>
                  <a:srgbClr val="F43F5E"/>
                </a:solidFill>
                <a:latin typeface="Arial"/>
              </a:defRPr>
            </a:pPr>
            <a:r>
              <a:t>0:35 - 0:50 | The Negative Defense (Why NO to NLP)</a:t>
            </a:r>
          </a:p>
          <a:p>
            <a:pPr>
              <a:spcAft>
                <a:spcPts val="1000"/>
              </a:spcAft>
              <a:defRPr sz="1000">
                <a:solidFill>
                  <a:srgbClr val="F8F9FA"/>
                </a:solidFill>
                <a:latin typeface="Calibri"/>
              </a:defRPr>
            </a:pPr>
            <a:r>
              <a:t>“Notice what we deliberately left out: Natural Language Processing. When a rider is unconscious or wind is howling at 60 km/h, speech recognition is useless. Crash physics is vector dynamics, not grammar.”</a:t>
            </a:r>
          </a:p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0:50 - 1:00 | The Climax</a:t>
            </a:r>
          </a:p>
          <a:p>
            <a:pPr>
              <a:spcAft>
                <a:spcPts val="1000"/>
              </a:spcAft>
              <a:defRPr sz="1000">
                <a:solidFill>
                  <a:srgbClr val="F8F9FA"/>
                </a:solidFill>
                <a:latin typeface="Calibri"/>
              </a:defRPr>
            </a:pPr>
            <a:r>
              <a:t>“Using the right technologies, not all of them, is what saves lives. AegisRide guarantees that no rider is ever left alone in the dark. Thank you.”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600200"/>
            <a:ext cx="3687775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783080"/>
            <a:ext cx="32305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RUBRIC SCORECARD VERIFICATION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ONE Real-World Problem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Specific midnight lone-rider fatality quantified with 150k+ casualty data.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Technology Discernment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Justified exact jobs for IoT (sensing), TinyML (false alarm filter), AI (triage agent).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Negative Space Defended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Explicitly and defensibly rejected NLP, fulfilling the core scoring bonus rule.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Stress-Tested System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Covered all 4 pillars (Data, Intel, Limitations, Ethics) &amp; 9 questions from Slide 12.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Agile Crisis Contingencies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Pivots pre-planned for all 10 Twist Cards from Slide 13.</a:t>
            </a:r>
          </a:p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✓ 60-Second Timed Pitch</a:t>
            </a:r>
          </a:p>
          <a:p>
            <a:pPr>
              <a:spcAft>
                <a:spcPts val="600"/>
              </a:spcAft>
              <a:defRPr sz="880">
                <a:solidFill>
                  <a:srgbClr val="94A3B8"/>
                </a:solidFill>
                <a:latin typeface="Calibri"/>
              </a:defRPr>
            </a:pPr>
            <a:r>
              <a:t>142 words formatted at 140 wpm cadence with punchy emotional beats.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